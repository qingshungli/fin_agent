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313" r:id="rIdExtra13"/>
    <p:sldId id="314" r:id="rIdExtra14"/>
    <p:sldId id="315" r:id="rIdExtra15"/>
    <p:sldId id="316" r:id="rIdExtra16"/>
    <p:sldId id="317" r:id="rIdExtra17"/>
    <p:sldId id="267" r:id="rId1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notesMaster" Target="notesMasters/notesMaster1.xml" /><ns0:Relationship Id="rId9" Type="http://schemas.openxmlformats.org/officeDocument/2006/relationships/slide" Target="slides/slide2.xml" /><ns0:Relationship Id="rId10" Type="http://schemas.openxmlformats.org/officeDocument/2006/relationships/slide" Target="slides/slide3.xml" /><ns0:Relationship Id="rId11" Type="http://schemas.openxmlformats.org/officeDocument/2006/relationships/slide" Target="slides/slide4.xml" /><ns0:Relationship Id="rId12" Type="http://schemas.openxmlformats.org/officeDocument/2006/relationships/slide" Target="slides/slide5.xml" /><ns0:Relationship Id="rId13" Type="http://schemas.openxmlformats.org/officeDocument/2006/relationships/slide" Target="slides/slide6.xml" /><ns0:Relationship Id="rId14" Type="http://schemas.openxmlformats.org/officeDocument/2006/relationships/slide" Target="slides/slide7.xml" /><ns0:Relationship Id="rId15" Type="http://schemas.openxmlformats.org/officeDocument/2006/relationships/slide" Target="slides/slide8.xml" /><ns0:Relationship Id="rId16" Type="http://schemas.openxmlformats.org/officeDocument/2006/relationships/slide" Target="slides/slide9.xml" /><ns0:Relationship Id="rId17" Type="http://schemas.openxmlformats.org/officeDocument/2006/relationships/slide" Target="slides/slide10.xml" /><ns0:Relationship Id="rId18" Type="http://schemas.openxmlformats.org/officeDocument/2006/relationships/slide" Target="slides/slide11.xml" /><ns0:Relationship Id="rId19" Type="http://schemas.openxmlformats.org/officeDocument/2006/relationships/slide" Target="slides/slide12.xml" /><ns0:Relationship Id="rIdExtra13" Type="http://schemas.openxmlformats.org/officeDocument/2006/relationships/slide" Target="slides/slide13.xml" /><ns0:Relationship Id="rIdExtra14" Type="http://schemas.openxmlformats.org/officeDocument/2006/relationships/slide" Target="slides/slide14.xml" /><ns0:Relationship Id="rIdExtra15" Type="http://schemas.openxmlformats.org/officeDocument/2006/relationships/slide" Target="slides/slide15.xml" /><ns0:Relationship Id="rIdExtra16" Type="http://schemas.openxmlformats.org/officeDocument/2006/relationships/slide" Target="slides/slide16.xml" /><ns0:Relationship Id="rIdExtra17" Type="http://schemas.openxmlformats.org/officeDocument/2006/relationships/slide" Target="slides/slide17.xml" /></ns0: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今天重点介绍架构：研究如何被提出、执行、演化和审计。</a:t>
            </a:r>
          </a:p>
          <a:p>
            <a:r>
              <a:t>封面由 LaTeX 重建；当前独立确认数为 0，e 轨迹仍为实验性诊断。</a:t>
            </a:r>
          </a:p>
          <a:p>
            <a:r>
              <a:t>递归改进的对象是研究假设与任务分配。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先沿中间主链解释输入、研究对象、执行器和产物。</a:t>
            </a:r>
          </a:p>
          <a:p>
            <a:r>
              <a:t>上方是研究控制入口，下方分别是演化反馈和治理约束。</a:t>
            </a:r>
          </a:p>
          <a:p>
            <a:r>
              <a:t>新假设需要重新冻结，不能修改过去的测量结果。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提案、操作化和审查形成可以计算的候选。</a:t>
            </a:r>
          </a:p>
          <a:p>
            <a:r>
              <a:t>盲下注发生在测量前；核对和归纳消费获准的结果与研究记录。</a:t>
            </a:r>
          </a:p>
          <a:p>
            <a:r>
              <a:t>提案与盲下注角色不接收原始收益和 B/H 观测，演化只能传递获准训练线索。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一个研究对象包含机制、表达式、周期、覆盖、必要断言和谱系。</a:t>
            </a:r>
          </a:p>
          <a:p>
            <a:r>
              <a:t>同机制保留三个表达式，用于检查表达是否一致地指向机制。</a:t>
            </a:r>
          </a:p>
          <a:p>
            <a:r>
              <a:t>DSL 限制字段和算子，模型输出不能作为任意 Python 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测量、断言、安慰剂、稳定性和条件发现各自产生明确产物。</a:t>
            </a:r>
          </a:p>
          <a:p>
            <a:r>
              <a:t>支持、矛盾和未测试需要分开，未知不被补成通过。</a:t>
            </a:r>
          </a:p>
          <a:p>
            <a:r>
              <a:t>e 轨迹只用于实验性诊断，B/H 独立确认有单独入口。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递归对象是方向、条件、交互及探索队列。</a:t>
            </a:r>
          </a:p>
          <a:p>
            <a:r>
              <a:t>反向线索、完整条件路径和父子比较都来自训练段。</a:t>
            </a:r>
          </a:p>
          <a:p>
            <a:r>
              <a:t>父代失败不阻止提出新假设，但新假设不继承有效性。</a:t>
            </a:r>
          </a:p>
          <a:p>
            <a:r>
              <a:t>最大深度为 2；预算与去重限制探索规模。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先保留结构及断言的原始状态，再组织解释。</a:t>
            </a:r>
          </a:p>
          <a:p>
            <a:r>
              <a:t>研究记忆通过分阶段层次贝叶斯服务计划，可识别性不足要明确报告。</a:t>
            </a:r>
          </a:p>
          <a:p>
            <a:r>
              <a:t>后验帮助选择下一探针，不授予确认资格。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数据面板将历史字段与未来标签分开，并保留缺失和隔离状态。</a:t>
            </a:r>
          </a:p>
          <a:p>
            <a:r>
              <a:t>A 段内部训练与后续探索分段不等于 B/H 独立确认。</a:t>
            </a:r>
          </a:p>
          <a:p>
            <a:r>
              <a:t>B/H 读取前检查准入，采用冻结批次校正；fast 不授予正式 PASS。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测量先持久化，再做归纳后处理，归纳失败可以恢复。</a:t>
            </a:r>
          </a:p>
          <a:p>
            <a:r>
              <a:t>恢复前核对代码、数据、环境和统计配置。</a:t>
            </a:r>
          </a:p>
          <a:p>
            <a:r>
              <a:t>暂停和停止在安全检查点边界生效。</a:t>
            </a:r>
          </a:p>
          <a:p>
            <a:r>
              <a:t>指纹与审计支持一致性核查，不等于不可篡改认证。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驱动完整研究，适合批次运行。</a:t>
            </a:r>
          </a:p>
          <a:p>
            <a:r>
              <a:t>SDK 支持自有数据独立实验，不调用外部模型。</a:t>
            </a:r>
          </a:p>
          <a:p>
            <a:r>
              <a:t>控制台负责查看和任务管理，读取真实产物。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贡献一是机制语义和可执行合同之间的绑定。</a:t>
            </a:r>
          </a:p>
          <a:p>
            <a:r>
              <a:t>贡献二是训练局部线索和重新冻结子代之间的转换。</a:t>
            </a:r>
          </a:p>
          <a:p>
            <a:r>
              <a:t>贡献三是证据记忆和有界调度之间的反馈。</a:t>
            </a:r>
          </a:p>
          <a:p>
            <a:r>
              <a:t>这些是已实现的设计贡献；相对方法增益仍需同预算消融。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回到架构主线：提出、冻结、检验、演化、记录。</a:t>
            </a:r>
          </a:p>
          <a:p>
            <a:r>
              <a:t>下一步通过正式确认和同预算消融验证方法增益。</a:t>
            </a:r>
          </a:p>
          <a:p>
            <a:r>
              <a:t>感谢评审，进入架构与实现问答。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extra-13.png" /></ns0:Relationships>
</file>

<file path=ppt/slides/_rels/slide1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extra-14.png" /></ns0:Relationships>
</file>

<file path=ppt/slides/_rels/slide1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extra-15.png" /></ns0:Relationships>
</file>

<file path=ppt/slides/_rels/slide1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extra-16.png" /></ns0: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3" Type="http://schemas.openxmlformats.org/officeDocument/2006/relationships/image" Target="../media/extra-17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系统架构：研究主链、演化反馈与全程治理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数据 → 假设 → 执行 → 证据；演化反馈负责继续研究，治理机制贯穿全程。</a:t>
            </a:r>
          </a:p>
        </p:txBody>
      </p:sp>
      <p:pic>
        <p:nvPicPr>
          <p:cNvPr id="6" name="Picture 5" descr="01-system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六类角色协作，计算结果由执行器产生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角色分工通过字段白名单落实；同一模型承担多个岗位。</a:t>
            </a:r>
          </a:p>
        </p:txBody>
      </p:sp>
      <p:pic>
        <p:nvPicPr>
          <p:cNvPr id="6" name="Picture 5" descr="02-role-fire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研究合同：把经济解释变成可执行对象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Structure 将语义、计算和证据需求绑定在一起。</a:t>
            </a:r>
          </a:p>
        </p:txBody>
      </p:sp>
      <p:pic>
        <p:nvPicPr>
          <p:cNvPr id="6" name="Picture 5" descr="03-contract-compi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评估器：让每项结论都有可核对的来源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机制解释与数值计算分工，检验状态通过确定性代码落盘。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基础测量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IC、分组与季度表现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HAC / block bootstrap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metrics.py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必要断言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方向、形状与条件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hold / violated / untested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blades.py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安慰剂检验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置换、时间移位、IAAFT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有效性与质量诊断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placebo.py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稳健性与增量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稳定性、覆盖与成本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父子和条件结构对照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consistency.py · evolution.py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异质性发现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正交化与浅森林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训练段完整条件路径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discovery.py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7699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证据提交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结果、曲线、耗时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配置与来源身份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pipeline.py · audit.py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自演化：在固定评估器中改进下一轮假设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训练证据提出新问题，所有子代重新进入同一套研究协议。</a:t>
            </a:r>
          </a:p>
        </p:txBody>
      </p:sp>
      <p:pic>
        <p:nvPicPr>
          <p:cNvPr id="6" name="Picture 5" descr="04-bounded-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981199"/>
            <a:ext cx="10896600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研究记忆：把一次失败变成可复用信息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证据记录、研究后验和任务调度形成反馈；正式判定保持独立。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514600"/>
            <a:ext cx="3276600" cy="22860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01  证据记录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017520"/>
            <a:ext cx="2941320" cy="1615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支持证据与冲突证据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未完成检验与拒绝原因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父子关系与数据身份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laws.py · audit.py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514600"/>
            <a:ext cx="3276600" cy="22860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02  研究记忆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3017520"/>
            <a:ext cx="2941320" cy="1615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机制族与表达形式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分阶段层次贝叶斯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可识别性和拟合诊断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memory.py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514600"/>
            <a:ext cx="3276600" cy="22860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03  后续调度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3017520"/>
            <a:ext cx="2941320" cy="1615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组织下一探针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合并有限 follow-up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带来源地返回队列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cycle.py · continuation.py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24300" y="3657600"/>
            <a:ext cx="533400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34300" y="3657600"/>
            <a:ext cx="533399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7700" y="5295900"/>
            <a:ext cx="10896600" cy="5715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72CBC0"/>
                </a:solidFill>
                <a:latin typeface="Microsoft YaHei"/>
              </a:defRPr>
            </a:pPr>
            <a:r>
              <a:t>一条规律记录应同时回答：观察到了什么？哪些证据冲突？下一轮验证什么？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数据与确认边界：探索可以反复，确认单独准入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从输入字段到保留样本，分清可用于选择的信息和可用于确认的证据。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514600"/>
            <a:ext cx="3276600" cy="21717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A / 探索段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3017520"/>
            <a:ext cx="2941320" cy="15011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机制提案与候选筛查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训练条件与方向选择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后续探索诊断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4348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允许生成新的研究假设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514600"/>
            <a:ext cx="3276600" cy="21717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B / 确认段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3017520"/>
            <a:ext cx="2941320" cy="15011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冻结批次准入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必要断言与联合判定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Holm 多重比较校正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4348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确认入口独立审计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514600"/>
            <a:ext cx="3276600" cy="21717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6441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H / 保留段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3017520"/>
            <a:ext cx="2941320" cy="15011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单独的保留样本入口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访问事实与有效性记录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按协议继续确认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4348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不能回流探索调参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24300" y="3596640"/>
            <a:ext cx="533400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34300" y="3596640"/>
            <a:ext cx="533399" cy="0"/>
          </a:xfrm>
          <a:prstGeom prst="line">
            <a:avLst/>
          </a:prstGeom>
          <a:ln w="15240">
            <a:solidFill>
              <a:srgbClr val="72CB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7700" y="5181600"/>
            <a:ext cx="10896600" cy="800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340" y="5311140"/>
            <a:ext cx="1056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输入契约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40" y="5684520"/>
            <a:ext cx="10561320" cy="129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历史字段与收益标签分离 · purge 时间间隔 · 日历资格掩码 · 异常字段保持缺失或隔离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长任务可靠性：冻结、提交、检查点与恢复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研究运行数小时后中断，也需要知道哪些测量已经完成、哪些仍未完成。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冻结身份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代码 / 数据 / 配置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候选与运行环境指纹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audit.py · pipeline.py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测量提交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结果先落盘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保留完整测量与耗时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pipeline.py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171700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3012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检查点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6746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状态、预算与队列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区分完成与未完成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34823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checkpoint.json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安全控制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暂停 / 停止请求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检查点边界生效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control.json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7700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恢复核验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一致性检查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后处理可审计恢复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recover_reconciler.py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7699" y="4190999"/>
            <a:ext cx="3276600" cy="15621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5340" y="43205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产物读取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5340" y="4693920"/>
            <a:ext cx="2941320" cy="8915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接口投影真实状态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报告与研究日志导出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5340" y="55016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dashboard_server.py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同一研究能力，提供三种使用入口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研究引擎、轻量 SDK 和控制台职责明确，便于接入与复核。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438400"/>
            <a:ext cx="3276600" cy="25146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Research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941320"/>
            <a:ext cx="2941320" cy="1844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完整模型角色编排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统计检验与递归队列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组合研究与执行适配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7015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run_engine.py · composition/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438400"/>
            <a:ext cx="3276600" cy="25146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Research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941320"/>
            <a:ext cx="2941320" cy="1844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自有 CSV / Parquet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CellSpec / ExperimentSpec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训练选择与验证评估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7015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research_sdk/ · studio_api.py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438400"/>
            <a:ext cx="3276600" cy="25146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Control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941320"/>
            <a:ext cx="2941320" cy="1844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二维 / 三维机制地图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证据、谱系、日志与报告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任务状态及操作入口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7015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React · FastAPI · server_jobs.py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425440"/>
            <a:ext cx="10896600" cy="53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40"/>
              </a:spcAft>
              <a:defRPr sz="1620">
                <a:solidFill>
                  <a:srgbClr val="72CBC0"/>
                </a:solidFill>
                <a:latin typeface="Microsoft YaHei"/>
              </a:defRPr>
            </a:pPr>
            <a:r>
              <a:t>试点对象：量化研究团队与金融工程实验室；先验证接入、复核和研究管理效率。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6477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创新落在模块之间的协议与反馈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47828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机制约束 × 异质性演化 × 证据记忆，共同构成可审计的研究循环。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438400"/>
            <a:ext cx="3276600" cy="23622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机制 → 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340" y="2941320"/>
            <a:ext cx="294132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让模型的经济解释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对应可执行表达式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与明确的检验需求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语义与计算连接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2438400"/>
            <a:ext cx="3276600" cy="2362200"/>
          </a:xfrm>
          <a:prstGeom prst="rect">
            <a:avLst/>
          </a:prstGeom>
          <a:solidFill>
            <a:srgbClr val="72CBC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102B30"/>
                </a:solidFill>
                <a:latin typeface="Microsoft YaHei"/>
              </a:defRPr>
            </a:pPr>
            <a:r>
              <a:t>异质性 → 子代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340" y="2941320"/>
            <a:ext cx="294132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102B30"/>
                </a:solidFill>
                <a:latin typeface="Microsoft YaHei"/>
              </a:defRPr>
            </a:pPr>
            <a:r>
              <a:t>让局部条件和方向</a:t>
            </a:r>
          </a:p>
          <a:p>
            <a:pPr>
              <a:spcAft>
                <a:spcPts val="460"/>
              </a:spcAft>
              <a:defRPr sz="1380">
                <a:solidFill>
                  <a:srgbClr val="102B30"/>
                </a:solidFill>
                <a:latin typeface="Microsoft YaHei"/>
              </a:defRPr>
            </a:pPr>
            <a:r>
              <a:t>进入有谱系的新假设</a:t>
            </a:r>
          </a:p>
          <a:p>
            <a:pPr>
              <a:spcAft>
                <a:spcPts val="460"/>
              </a:spcAft>
              <a:defRPr sz="1380">
                <a:solidFill>
                  <a:srgbClr val="102B30"/>
                </a:solidFill>
                <a:latin typeface="Microsoft YaHei"/>
              </a:defRPr>
            </a:pPr>
            <a:r>
              <a:t>继续接受固定评估器检验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102B30"/>
                </a:solidFill>
                <a:latin typeface="Microsoft YaHei"/>
              </a:defRPr>
            </a:pPr>
            <a:r>
              <a:t>发现与验证连接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7699" y="2438400"/>
            <a:ext cx="3276600" cy="2362200"/>
          </a:xfrm>
          <a:prstGeom prst="rect">
            <a:avLst/>
          </a:prstGeom>
          <a:solidFill>
            <a:srgbClr val="173B40"/>
          </a:solidFill>
          <a:ln>
            <a:solidFill>
              <a:srgbClr val="38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5340" y="2567940"/>
            <a:ext cx="2941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80"/>
              </a:spcAft>
              <a:defRPr sz="1739">
                <a:solidFill>
                  <a:srgbClr val="E9F2E9"/>
                </a:solidFill>
                <a:latin typeface="Microsoft YaHei"/>
              </a:defRPr>
            </a:pPr>
            <a:r>
              <a:t>证据 → 记忆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5340" y="2941320"/>
            <a:ext cx="2941320" cy="1691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让支持、冲突与未知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保留为后续研究输入</a:t>
            </a:r>
          </a:p>
          <a:p>
            <a:pPr>
              <a:spcAft>
                <a:spcPts val="460"/>
              </a:spcAft>
              <a:defRPr sz="1380">
                <a:solidFill>
                  <a:srgbClr val="A7C3C5"/>
                </a:solidFill>
                <a:latin typeface="Microsoft YaHei"/>
              </a:defRPr>
            </a:pPr>
            <a:r>
              <a:t>同时保持确认入口独立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5340" y="4549140"/>
            <a:ext cx="2941320" cy="198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72CBC0"/>
                </a:solidFill>
                <a:latin typeface="Microsoft YaHei"/>
              </a:defRPr>
            </a:pPr>
            <a:r>
              <a:t>实验与积累连接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5334000"/>
            <a:ext cx="10896600" cy="5715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A7C3C5"/>
                </a:solidFill>
                <a:latin typeface="Microsoft YaHei"/>
              </a:defRPr>
            </a:pPr>
            <a:r>
              <a:t>实现状态 / 2026-09-09：已归档 15 个完成候选；研究原型可运行，独立确认尚未完成。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304800"/>
            <a:ext cx="9144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AURORA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8500" y="304800"/>
            <a:ext cx="762000" cy="228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320"/>
              </a:spcAft>
              <a:defRPr sz="960">
                <a:solidFill>
                  <a:srgbClr val="A7C3C5"/>
                </a:solidFill>
                <a:latin typeface="Microsoft YaHei"/>
              </a:defRPr>
            </a:pPr>
            <a: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" y="762000"/>
            <a:ext cx="10896600" cy="1219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让研究可以继续，</a:t>
            </a:r>
          </a:p>
          <a:p>
            <a:pPr>
              <a:spcAft>
                <a:spcPts val="1000"/>
              </a:spcAft>
              <a:defRPr sz="3000">
                <a:solidFill>
                  <a:srgbClr val="E9F2E9"/>
                </a:solidFill>
                <a:latin typeface="Microsoft YaHei"/>
              </a:defRPr>
            </a:pPr>
            <a:r>
              <a:t>让证据可以追溯。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1920240"/>
            <a:ext cx="10896600" cy="3429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40"/>
              </a:spcAft>
              <a:defRPr sz="1320">
                <a:solidFill>
                  <a:srgbClr val="A7C3C5"/>
                </a:solidFill>
                <a:latin typeface="Microsoft YaHei"/>
              </a:defRPr>
            </a:pPr>
            <a:r>
              <a:t>AURORA / ARCHITECTURE FOR RECURSIVE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514600"/>
            <a:ext cx="5257800" cy="16383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40"/>
              </a:spcAft>
              <a:defRPr sz="3719">
                <a:solidFill>
                  <a:srgbClr val="72CBC0"/>
                </a:solidFill>
                <a:latin typeface="Microsoft YaHei"/>
              </a:defRPr>
            </a:pPr>
            <a:r>
              <a:t>机制先行</a:t>
            </a:r>
          </a:p>
          <a:p>
            <a:pPr>
              <a:spcAft>
                <a:spcPts val="1240"/>
              </a:spcAft>
              <a:defRPr sz="3719">
                <a:solidFill>
                  <a:srgbClr val="72CBC0"/>
                </a:solidFill>
                <a:latin typeface="Microsoft YaHei"/>
              </a:defRPr>
            </a:pPr>
            <a:r>
              <a:t>实验有界</a:t>
            </a:r>
          </a:p>
          <a:p>
            <a:pPr>
              <a:spcAft>
                <a:spcPts val="1240"/>
              </a:spcAft>
              <a:defRPr sz="3719">
                <a:solidFill>
                  <a:srgbClr val="72CBC0"/>
                </a:solidFill>
                <a:latin typeface="Microsoft YaHei"/>
              </a:defRPr>
            </a:pPr>
            <a:r>
              <a:t>证据留痕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686300" cy="35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F2E9"/>
                </a:solidFill>
                <a:latin typeface="Microsoft YaHei"/>
              </a:defRPr>
            </a:pPr>
            <a:r>
              <a:t>01  验证统计有效性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979420"/>
            <a:ext cx="46863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80"/>
              </a:spcAft>
              <a:defRPr sz="1439">
                <a:solidFill>
                  <a:srgbClr val="A7C3C5"/>
                </a:solidFill>
                <a:latin typeface="Microsoft YaHei"/>
              </a:defRPr>
            </a:pPr>
            <a:r>
              <a:t>补齐安慰剂校准与独立确认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695700"/>
            <a:ext cx="4686300" cy="35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F2E9"/>
                </a:solidFill>
                <a:latin typeface="Microsoft YaHei"/>
              </a:defRPr>
            </a:pPr>
            <a:r>
              <a:t>02  验证方法增益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60520"/>
            <a:ext cx="46863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80"/>
              </a:spcAft>
              <a:defRPr sz="1439">
                <a:solidFill>
                  <a:srgbClr val="A7C3C5"/>
                </a:solidFill>
                <a:latin typeface="Microsoft YaHei"/>
              </a:defRPr>
            </a:pPr>
            <a:r>
              <a:t>同预算比较演化与记忆反馈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876800"/>
            <a:ext cx="4686300" cy="350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9F2E9"/>
                </a:solidFill>
                <a:latin typeface="Microsoft YaHei"/>
              </a:defRPr>
            </a:pPr>
            <a:r>
              <a:t>03  验证使用价值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341620"/>
            <a:ext cx="46863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80"/>
              </a:spcAft>
              <a:defRPr sz="1439">
                <a:solidFill>
                  <a:srgbClr val="A7C3C5"/>
                </a:solidFill>
                <a:latin typeface="Microsoft YaHei"/>
              </a:defRPr>
            </a:pPr>
            <a:r>
              <a:t>自有数据试点与研究复核效率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X rendered p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X rendered p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X rendered p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X rendered p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X rendered p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(16:9)</ns0:PresentationFormat>
  <ns0:Paragraphs>0</ns0:Paragraphs>
  <ns0:Slides>17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AURORA Alpha Harness：架构、界面与阶段成果</dc:title>
  <dc:subject/>
  <dc:creator>AURORA Research Team</dc:creator>
  <ns0:keywords/>
  <dc:description>generated using python-pptx</dc:description>
  <ns0:lastModifiedBy>AURORA Research Team</ns0:lastModifiedBy>
  <ns0:revision>1</ns0:revision>
  <ns2:created xsi:type="dcterms:W3CDTF">2026-09-09T00:00:00Z</ns2:created>
  <ns2:modified xsi:type="dcterms:W3CDTF">2026-09-09T00:00:00Z</ns2:modified>
  <ns0:category/>
</ns0:coreProperties>
</file>